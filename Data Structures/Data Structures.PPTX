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sldIdLst>
    <p:sldId id="256" r:id="rId2"/>
    <p:sldId id="258" r:id="rId3"/>
    <p:sldId id="259" r:id="rId4"/>
    <p:sldId id="260" r:id="rId5"/>
    <p:sldId id="264" r:id="rId6"/>
    <p:sldId id="265" r:id="rId7"/>
    <p:sldId id="266" r:id="rId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0" d="100"/>
          <a:sy n="100" d="100"/>
        </p:scale>
        <p:origin x="713" y="9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455621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FC4484-2015-42D6-8B77-7AF40A59800F}" type="datetimeFigureOut">
              <a:rPr lang="en-US" smtClean="0"/>
              <a:t>5/3/2026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3FA6DB-6B8D-419B-AF0F-8F41E3DB109F}" type="slidenum">
              <a:rPr lang="en-US" smtClean="0"/>
              <a:t>‹#›</a:t>
            </a:fld>
            <a:endParaRPr lang="en-US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0398573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FC4484-2015-42D6-8B77-7AF40A59800F}" type="datetimeFigureOut">
              <a:rPr lang="en-US" smtClean="0"/>
              <a:t>5/3/2026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3FA6DB-6B8D-419B-AF0F-8F41E3DB10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917040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FC4484-2015-42D6-8B77-7AF40A59800F}" type="datetimeFigureOut">
              <a:rPr lang="en-US" smtClean="0"/>
              <a:t>5/3/2026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3FA6DB-6B8D-419B-AF0F-8F41E3DB109F}" type="slidenum">
              <a:rPr lang="en-US" smtClean="0"/>
              <a:t>‹#›</a:t>
            </a:fld>
            <a:endParaRPr lang="en-US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4522320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78" y="1845734"/>
            <a:ext cx="493776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17920" y="1845735"/>
            <a:ext cx="493776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FC4484-2015-42D6-8B77-7AF40A59800F}" type="datetimeFigureOut">
              <a:rPr lang="en-US" smtClean="0"/>
              <a:t>5/3/2026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3FA6DB-6B8D-419B-AF0F-8F41E3DB10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84729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582334"/>
            <a:ext cx="4937760" cy="3378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1792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920" y="2582334"/>
            <a:ext cx="4937760" cy="3378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FC4484-2015-42D6-8B77-7AF40A59800F}" type="datetimeFigureOut">
              <a:rPr lang="en-US" smtClean="0"/>
              <a:t>5/3/2026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3FA6DB-6B8D-419B-AF0F-8F41E3DB10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5637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FC4484-2015-42D6-8B77-7AF40A59800F}" type="datetimeFigureOut">
              <a:rPr lang="en-US" smtClean="0"/>
              <a:t>5/3/2026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3FA6DB-6B8D-419B-AF0F-8F41E3DB10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974130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" name="Rectangle 5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FC4484-2015-42D6-8B77-7AF40A59800F}" type="datetimeFigureOut">
              <a:rPr lang="en-US" smtClean="0"/>
              <a:t>5/3/2026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3FA6DB-6B8D-419B-AF0F-8F41E3DB10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685273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0600" y="731520"/>
            <a:ext cx="6492240" cy="52578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2926080"/>
            <a:ext cx="32004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65512" y="6459785"/>
            <a:ext cx="2618510" cy="365125"/>
          </a:xfrm>
        </p:spPr>
        <p:txBody>
          <a:bodyPr/>
          <a:lstStyle>
            <a:lvl1pPr algn="l">
              <a:defRPr/>
            </a:lvl1pPr>
          </a:lstStyle>
          <a:p>
            <a:fld id="{08FC4484-2015-42D6-8B77-7AF40A59800F}" type="datetimeFigureOut">
              <a:rPr lang="en-US" smtClean="0"/>
              <a:t>5/3/2026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800600" y="6459785"/>
            <a:ext cx="464820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933FA6DB-6B8D-419B-AF0F-8F41E3DB10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405033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5074920"/>
            <a:ext cx="10113645" cy="822960"/>
          </a:xfrm>
        </p:spPr>
        <p:txBody>
          <a:bodyPr lIns="91440" tIns="0" rIns="9144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915076"/>
          </a:xfrm>
          <a:solidFill>
            <a:schemeClr val="bg2">
              <a:lumMod val="90000"/>
            </a:schemeClr>
          </a:solidFill>
        </p:spPr>
        <p:txBody>
          <a:bodyPr lIns="457200" tIns="457200"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80" y="5907024"/>
            <a:ext cx="10113264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FC4484-2015-42D6-8B77-7AF40A59800F}" type="datetimeFigureOut">
              <a:rPr lang="en-US" smtClean="0"/>
              <a:t>5/3/2026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3FA6DB-6B8D-419B-AF0F-8F41E3DB10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68485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FC4484-2015-42D6-8B77-7AF40A59800F}" type="datetimeFigureOut">
              <a:rPr lang="en-US" smtClean="0"/>
              <a:t>5/3/2026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3FA6DB-6B8D-419B-AF0F-8F41E3DB10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436913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2302"/>
            <a:ext cx="2628900" cy="575989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2302"/>
            <a:ext cx="7734300" cy="5759898"/>
          </a:xfrm>
        </p:spPr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FC4484-2015-42D6-8B77-7AF40A59800F}" type="datetimeFigureOut">
              <a:rPr lang="en-US" smtClean="0"/>
              <a:t>5/3/2026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3FA6DB-6B8D-419B-AF0F-8F41E3DB10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61467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6334316"/>
            <a:ext cx="12191985" cy="6648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fld id="{08FC4484-2015-42D6-8B77-7AF40A59800F}" type="datetimeFigureOut">
              <a:rPr lang="en-US" smtClean="0"/>
              <a:t>5/3/2026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rgbClr val="FFFFFF"/>
                </a:solidFill>
              </a:defRPr>
            </a:lvl1pPr>
          </a:lstStyle>
          <a:p>
            <a:fld id="{933FA6DB-6B8D-419B-AF0F-8F41E3DB109F}" type="slidenum">
              <a:rPr lang="en-US" smtClean="0"/>
              <a:t>‹#›</a:t>
            </a:fld>
            <a:endParaRPr lang="en-US"/>
          </a:p>
        </p:txBody>
      </p:sp>
      <p:cxnSp>
        <p:nvCxnSpPr>
          <p:cNvPr id="10" name="Straight Connector 9"/>
          <p:cNvCxnSpPr/>
          <p:nvPr/>
        </p:nvCxnSpPr>
        <p:spPr>
          <a:xfrm>
            <a:off x="1193532" y="1737845"/>
            <a:ext cx="996696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4196524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801F14-9B9A-852E-499F-63373939D30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034450"/>
          </a:xfrm>
        </p:spPr>
        <p:txBody>
          <a:bodyPr/>
          <a:lstStyle/>
          <a:p>
            <a:pPr algn="ctr"/>
            <a:r>
              <a:rPr lang="en-US" dirty="0"/>
              <a:t>Java Data Structures 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E0300DF-88CD-F4A4-6ECF-F0AA834D8D1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583194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692962B6-ECA1-6C10-C8C9-6A10004A6373}"/>
              </a:ext>
            </a:extLst>
          </p:cNvPr>
          <p:cNvSpPr txBox="1"/>
          <p:nvPr/>
        </p:nvSpPr>
        <p:spPr>
          <a:xfrm>
            <a:off x="3047246" y="367595"/>
            <a:ext cx="609750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3600" dirty="0"/>
              <a:t>Data Structures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3475497-719F-6209-6981-BF64A928F0D6}"/>
              </a:ext>
            </a:extLst>
          </p:cNvPr>
          <p:cNvSpPr txBox="1"/>
          <p:nvPr/>
        </p:nvSpPr>
        <p:spPr>
          <a:xfrm>
            <a:off x="790846" y="1628507"/>
            <a:ext cx="10610307" cy="36009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Primitive Types:</a:t>
            </a:r>
          </a:p>
          <a:p>
            <a:r>
              <a:rPr lang="en-US" sz="2400" dirty="0"/>
              <a:t>	These types store simple values directly in memory and have high performance. These types are divided into numeric and non‑numeric categories.</a:t>
            </a:r>
            <a:endParaRPr lang="fa-IR" sz="2400" dirty="0"/>
          </a:p>
          <a:p>
            <a:endParaRPr lang="fa-IR" sz="2400" dirty="0"/>
          </a:p>
          <a:p>
            <a:endParaRPr lang="fa-IR" sz="2400" dirty="0"/>
          </a:p>
          <a:p>
            <a:r>
              <a:rPr lang="en-US" sz="2800" b="1" dirty="0"/>
              <a:t>Reference Types:</a:t>
            </a:r>
            <a:br>
              <a:rPr lang="en-US" sz="2400" dirty="0"/>
            </a:br>
            <a:r>
              <a:rPr lang="fa-IR" sz="2400" dirty="0"/>
              <a:t>	</a:t>
            </a:r>
            <a:r>
              <a:rPr lang="en-US" sz="2400" dirty="0"/>
              <a:t>These types store the address (reference) of an object in memory. Their default value is null.</a:t>
            </a:r>
          </a:p>
          <a:p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78145620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15921D-D1AE-618A-5DEA-43E533F07E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D0685ECD-A150-B4C7-D655-9401005F4D98}"/>
              </a:ext>
            </a:extLst>
          </p:cNvPr>
          <p:cNvSpPr txBox="1"/>
          <p:nvPr/>
        </p:nvSpPr>
        <p:spPr>
          <a:xfrm>
            <a:off x="3047246" y="367595"/>
            <a:ext cx="609750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3600" dirty="0"/>
              <a:t>Primitive Integer Types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1E83919-6995-D35A-3871-EE63D4FFC1C5}"/>
              </a:ext>
            </a:extLst>
          </p:cNvPr>
          <p:cNvSpPr txBox="1"/>
          <p:nvPr/>
        </p:nvSpPr>
        <p:spPr>
          <a:xfrm>
            <a:off x="670140" y="1443395"/>
            <a:ext cx="5425859" cy="12618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byte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400" dirty="0"/>
              <a:t>Size: 8 bits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400" dirty="0"/>
              <a:t>Range: -128 to 127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79C9078-AD7F-EFD3-AFBA-9F83ADC7F786}"/>
              </a:ext>
            </a:extLst>
          </p:cNvPr>
          <p:cNvSpPr txBox="1"/>
          <p:nvPr/>
        </p:nvSpPr>
        <p:spPr>
          <a:xfrm>
            <a:off x="670140" y="3429000"/>
            <a:ext cx="5425859" cy="16312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int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400" dirty="0"/>
              <a:t>Size: 32 bits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400" dirty="0"/>
              <a:t>Range: -2,147,483,648 to 2,147,483,647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2160572-35F6-74BA-7423-B37931C28014}"/>
              </a:ext>
            </a:extLst>
          </p:cNvPr>
          <p:cNvSpPr txBox="1"/>
          <p:nvPr/>
        </p:nvSpPr>
        <p:spPr>
          <a:xfrm>
            <a:off x="6431825" y="3429000"/>
            <a:ext cx="5425858" cy="16312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long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400" dirty="0"/>
              <a:t>Size: 64 bits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400" dirty="0"/>
              <a:t>Range: -9,223,372,036,854,775,808 to 9,223,372,036,854,775,807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765A186-9CE9-3157-07C8-83C6D5B73343}"/>
              </a:ext>
            </a:extLst>
          </p:cNvPr>
          <p:cNvSpPr txBox="1"/>
          <p:nvPr/>
        </p:nvSpPr>
        <p:spPr>
          <a:xfrm>
            <a:off x="6434182" y="1443395"/>
            <a:ext cx="5425859" cy="12618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short</a:t>
            </a:r>
            <a:endParaRPr lang="en-US" sz="2800" dirty="0"/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400" dirty="0"/>
              <a:t>Size: 16 bits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400" dirty="0"/>
              <a:t>Range: -32,768 to 32,767</a:t>
            </a:r>
            <a:endParaRPr lang="en-US" sz="2400" dirty="0"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76618433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9501B0-0A03-40DC-5FCB-B4D7267045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43F80BA-781B-1B41-469A-FB4040A9A594}"/>
              </a:ext>
            </a:extLst>
          </p:cNvPr>
          <p:cNvSpPr txBox="1"/>
          <p:nvPr/>
        </p:nvSpPr>
        <p:spPr>
          <a:xfrm>
            <a:off x="3047246" y="367595"/>
            <a:ext cx="609750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3600" dirty="0"/>
              <a:t>Primitive Floating-Point Types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862CF4D-50AD-A48E-8D74-73719AAFE526}"/>
              </a:ext>
            </a:extLst>
          </p:cNvPr>
          <p:cNvSpPr txBox="1"/>
          <p:nvPr/>
        </p:nvSpPr>
        <p:spPr>
          <a:xfrm>
            <a:off x="2820200" y="1628507"/>
            <a:ext cx="6551599" cy="36009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float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400" dirty="0"/>
              <a:t>Size: 32 bits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400" dirty="0"/>
              <a:t>Range: approx. 1.4e-45 to 3.4e+38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400" dirty="0"/>
              <a:t>Description: Single-precision floating-point </a:t>
            </a:r>
          </a:p>
          <a:p>
            <a:endParaRPr lang="fa-IR" sz="2800" b="1" dirty="0"/>
          </a:p>
          <a:p>
            <a:r>
              <a:rPr lang="en-US" sz="2800" b="1" dirty="0"/>
              <a:t>double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400" dirty="0"/>
              <a:t>Size: 64 bits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400" dirty="0"/>
              <a:t>Range: approx. 4.9e-324 to 1.8e+308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400" dirty="0"/>
              <a:t>Description: Double-precision floating-point</a:t>
            </a:r>
          </a:p>
        </p:txBody>
      </p:sp>
    </p:spTree>
    <p:extLst>
      <p:ext uri="{BB962C8B-B14F-4D97-AF65-F5344CB8AC3E}">
        <p14:creationId xmlns:p14="http://schemas.microsoft.com/office/powerpoint/2010/main" val="115932346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2B797F-A7CE-4DBC-9928-BAB592EF0C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79934781-EAE2-0FAE-3D39-963653996791}"/>
              </a:ext>
            </a:extLst>
          </p:cNvPr>
          <p:cNvSpPr txBox="1"/>
          <p:nvPr/>
        </p:nvSpPr>
        <p:spPr>
          <a:xfrm>
            <a:off x="2617582" y="367595"/>
            <a:ext cx="695683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3600" dirty="0"/>
              <a:t>Primitive Non-Numerical Types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18CF60E-6E1F-34CA-BF6B-DAA1CEFBDAED}"/>
              </a:ext>
            </a:extLst>
          </p:cNvPr>
          <p:cNvSpPr txBox="1"/>
          <p:nvPr/>
        </p:nvSpPr>
        <p:spPr>
          <a:xfrm>
            <a:off x="2757554" y="1628507"/>
            <a:ext cx="6676887" cy="36009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char</a:t>
            </a:r>
            <a:endParaRPr lang="en-US" sz="2800" dirty="0"/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400" dirty="0"/>
              <a:t>Size: 16 bits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400" dirty="0"/>
              <a:t>Range: '\u0000' to '\</a:t>
            </a:r>
            <a:r>
              <a:rPr lang="en-US" sz="2400" dirty="0" err="1"/>
              <a:t>uffff</a:t>
            </a:r>
            <a:r>
              <a:rPr lang="en-US" sz="2400" dirty="0"/>
              <a:t>' (0 to 65,535)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400" dirty="0"/>
              <a:t>Description: A single Unicode character</a:t>
            </a:r>
          </a:p>
          <a:p>
            <a:endParaRPr lang="fa-IR" sz="2800" b="1" dirty="0"/>
          </a:p>
          <a:p>
            <a:r>
              <a:rPr lang="en-US" sz="2800" b="1" dirty="0" err="1"/>
              <a:t>boolean</a:t>
            </a:r>
            <a:endParaRPr lang="en-US" sz="2800" dirty="0"/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400" dirty="0"/>
              <a:t>Size: JVM‑dependent (typically 1 byte or 1 bit)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400" dirty="0"/>
              <a:t>Values: true or false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400" dirty="0"/>
              <a:t>Description: Logical value (truth value)</a:t>
            </a:r>
          </a:p>
        </p:txBody>
      </p:sp>
    </p:spTree>
    <p:extLst>
      <p:ext uri="{BB962C8B-B14F-4D97-AF65-F5344CB8AC3E}">
        <p14:creationId xmlns:p14="http://schemas.microsoft.com/office/powerpoint/2010/main" val="61159007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6BC5A6-8257-A253-F70D-B4A3BEFA0C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536E2577-4C8D-880F-5024-882972E0DA41}"/>
              </a:ext>
            </a:extLst>
          </p:cNvPr>
          <p:cNvSpPr txBox="1"/>
          <p:nvPr/>
        </p:nvSpPr>
        <p:spPr>
          <a:xfrm>
            <a:off x="2617582" y="367595"/>
            <a:ext cx="695683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3600" dirty="0"/>
              <a:t>Primitive Non-Numerical Types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F4D5FC0-8A74-5E63-9594-FFA125344E0A}"/>
              </a:ext>
            </a:extLst>
          </p:cNvPr>
          <p:cNvSpPr txBox="1"/>
          <p:nvPr/>
        </p:nvSpPr>
        <p:spPr>
          <a:xfrm>
            <a:off x="2757554" y="1628507"/>
            <a:ext cx="6676887" cy="36009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char</a:t>
            </a:r>
            <a:endParaRPr lang="en-US" sz="2800" dirty="0"/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400" dirty="0"/>
              <a:t>Size: 16 bits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400" dirty="0"/>
              <a:t>Range: '\u0000' to '\</a:t>
            </a:r>
            <a:r>
              <a:rPr lang="en-US" sz="2400" dirty="0" err="1"/>
              <a:t>uffff</a:t>
            </a:r>
            <a:r>
              <a:rPr lang="en-US" sz="2400" dirty="0"/>
              <a:t>' (0 to 65,535)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400" dirty="0"/>
              <a:t>Description: A single Unicode character</a:t>
            </a:r>
          </a:p>
          <a:p>
            <a:endParaRPr lang="fa-IR" sz="2800" b="1" dirty="0"/>
          </a:p>
          <a:p>
            <a:r>
              <a:rPr lang="en-US" sz="2800" b="1" dirty="0" err="1"/>
              <a:t>boolean</a:t>
            </a:r>
            <a:endParaRPr lang="en-US" sz="2800" dirty="0"/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400" dirty="0"/>
              <a:t>Size: JVM‑dependent (typically 1 byte or 1 bit)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400" dirty="0"/>
              <a:t>Values: true or false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400" dirty="0"/>
              <a:t>Description: Logical value (truth value)</a:t>
            </a:r>
          </a:p>
        </p:txBody>
      </p:sp>
    </p:spTree>
    <p:extLst>
      <p:ext uri="{BB962C8B-B14F-4D97-AF65-F5344CB8AC3E}">
        <p14:creationId xmlns:p14="http://schemas.microsoft.com/office/powerpoint/2010/main" val="30066076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4D20B0-9682-8E94-F2F0-A78969595B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5526E065-92E8-3EAF-7946-8DA1D642854B}"/>
              </a:ext>
            </a:extLst>
          </p:cNvPr>
          <p:cNvSpPr txBox="1"/>
          <p:nvPr/>
        </p:nvSpPr>
        <p:spPr>
          <a:xfrm>
            <a:off x="2617582" y="367595"/>
            <a:ext cx="695683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3600" dirty="0"/>
              <a:t>Primitive Non-Numerical Types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D4C86AE-36D1-9344-84E7-EBA86F8123DF}"/>
              </a:ext>
            </a:extLst>
          </p:cNvPr>
          <p:cNvSpPr txBox="1"/>
          <p:nvPr/>
        </p:nvSpPr>
        <p:spPr>
          <a:xfrm>
            <a:off x="2757554" y="1628507"/>
            <a:ext cx="6676887" cy="36009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char</a:t>
            </a:r>
            <a:endParaRPr lang="en-US" sz="2800" dirty="0"/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400" dirty="0"/>
              <a:t>Size: 16 bits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400" dirty="0"/>
              <a:t>Range: '\u0000' to '\</a:t>
            </a:r>
            <a:r>
              <a:rPr lang="en-US" sz="2400" dirty="0" err="1"/>
              <a:t>uffff</a:t>
            </a:r>
            <a:r>
              <a:rPr lang="en-US" sz="2400" dirty="0"/>
              <a:t>' (0 to 65,535)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400" dirty="0"/>
              <a:t>Description: A single Unicode character</a:t>
            </a:r>
          </a:p>
          <a:p>
            <a:endParaRPr lang="fa-IR" sz="2800" b="1" dirty="0"/>
          </a:p>
          <a:p>
            <a:r>
              <a:rPr lang="en-US" sz="2800" b="1" dirty="0" err="1"/>
              <a:t>boolean</a:t>
            </a:r>
            <a:endParaRPr lang="en-US" sz="2800" dirty="0"/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400" dirty="0"/>
              <a:t>Size: JVM‑dependent (typically 1 byte or 1 bit)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400" dirty="0"/>
              <a:t>Values: true or false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400" dirty="0"/>
              <a:t>Description: Logical value (truth value)</a:t>
            </a:r>
          </a:p>
        </p:txBody>
      </p:sp>
    </p:spTree>
    <p:extLst>
      <p:ext uri="{BB962C8B-B14F-4D97-AF65-F5344CB8AC3E}">
        <p14:creationId xmlns:p14="http://schemas.microsoft.com/office/powerpoint/2010/main" val="3827615744"/>
      </p:ext>
    </p:extLst>
  </p:cSld>
  <p:clrMapOvr>
    <a:masterClrMapping/>
  </p:clrMapOvr>
</p:sld>
</file>

<file path=ppt/theme/theme1.xml><?xml version="1.0" encoding="utf-8"?>
<a:theme xmlns:a="http://schemas.openxmlformats.org/drawingml/2006/main" name="Retrospect">
  <a:themeElements>
    <a:clrScheme name="Retrospect">
      <a:dk1>
        <a:sysClr val="windowText" lastClr="000000"/>
      </a:dk1>
      <a:lt1>
        <a:sysClr val="window" lastClr="FFFFFF"/>
      </a:lt1>
      <a:dk2>
        <a:srgbClr val="696464"/>
      </a:dk2>
      <a:lt2>
        <a:srgbClr val="E9E5DC"/>
      </a:lt2>
      <a:accent1>
        <a:srgbClr val="D34817"/>
      </a:accent1>
      <a:accent2>
        <a:srgbClr val="9B2D1F"/>
      </a:accent2>
      <a:accent3>
        <a:srgbClr val="A28E6A"/>
      </a:accent3>
      <a:accent4>
        <a:srgbClr val="956251"/>
      </a:accent4>
      <a:accent5>
        <a:srgbClr val="918485"/>
      </a:accent5>
      <a:accent6>
        <a:srgbClr val="855D5D"/>
      </a:accent6>
      <a:hlink>
        <a:srgbClr val="CC9900"/>
      </a:hlink>
      <a:folHlink>
        <a:srgbClr val="96A9A9"/>
      </a:folHlink>
    </a:clrScheme>
    <a:fontScheme name="Retrospect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Retrospec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etrospect" id="{5F128B03-DCCA-4EEB-AB3B-CF2899314A46}" vid="{02006FA4-1611-4B07-AF7F-85CF6D20EB3E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82</TotalTime>
  <Words>310</Words>
  <Application>Microsoft Office PowerPoint</Application>
  <PresentationFormat>Widescreen</PresentationFormat>
  <Paragraphs>60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1" baseType="lpstr">
      <vt:lpstr>Arial</vt:lpstr>
      <vt:lpstr>Calibri</vt:lpstr>
      <vt:lpstr>Calibri Light</vt:lpstr>
      <vt:lpstr>Retrospect</vt:lpstr>
      <vt:lpstr>Java Data Structures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Ramin Iranmanesh</dc:creator>
  <cp:lastModifiedBy>Ramin Iranmanesh</cp:lastModifiedBy>
  <cp:revision>17</cp:revision>
  <dcterms:created xsi:type="dcterms:W3CDTF">2026-05-02T17:54:48Z</dcterms:created>
  <dcterms:modified xsi:type="dcterms:W3CDTF">2026-05-03T09:32:52Z</dcterms:modified>
</cp:coreProperties>
</file>