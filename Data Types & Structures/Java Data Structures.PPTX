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7" r:id="rId2"/>
    <p:sldId id="270" r:id="rId3"/>
    <p:sldId id="271" r:id="rId4"/>
    <p:sldId id="275" r:id="rId5"/>
    <p:sldId id="273" r:id="rId6"/>
    <p:sldId id="274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1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88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4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232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8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3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12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9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61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15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AF1CD2-03D0-4BEA-98B7-6677F56063D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8BB7B7-7152-423D-A864-F0D4CD1DDDB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26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F8073-9ACF-9143-A2C0-C4111DAB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83C9-EDEB-0E70-7940-361660D83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54" y="1021503"/>
            <a:ext cx="10328193" cy="3034450"/>
          </a:xfrm>
        </p:spPr>
        <p:txBody>
          <a:bodyPr>
            <a:normAutofit/>
          </a:bodyPr>
          <a:lstStyle/>
          <a:p>
            <a:pPr algn="ctr"/>
            <a:r>
              <a:rPr lang="en-US" sz="7000" dirty="0"/>
              <a:t>Java Data Structures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5122F-FA1D-8DF6-BB88-E33FFB9C23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54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6ECF2-43A5-5A30-703B-CB425C4AC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C6DA9-F2AA-672D-C040-9D790E72FF54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What is a Data Structure?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C9E36E-78A7-31A8-F046-50A2E7CE796F}"/>
              </a:ext>
            </a:extLst>
          </p:cNvPr>
          <p:cNvSpPr txBox="1"/>
          <p:nvPr/>
        </p:nvSpPr>
        <p:spPr>
          <a:xfrm>
            <a:off x="790844" y="841528"/>
            <a:ext cx="10610307" cy="5174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Data Structure: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400" dirty="0"/>
              <a:t>A way of organizing and storing data in a computer so that it can be accessed and modified efficiently.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r>
              <a:rPr lang="en-US" sz="2800" b="1" dirty="0"/>
              <a:t>Two main groups in Java: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Linear:</a:t>
            </a:r>
            <a:r>
              <a:rPr lang="en-US" sz="2400" dirty="0"/>
              <a:t> Array, </a:t>
            </a:r>
            <a:r>
              <a:rPr lang="en-US" sz="2400" dirty="0" err="1"/>
              <a:t>ArrayList</a:t>
            </a:r>
            <a:r>
              <a:rPr lang="en-US" sz="2400" dirty="0"/>
              <a:t>, LinkedList, Stack, Queue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Non‑linear:</a:t>
            </a:r>
            <a:r>
              <a:rPr lang="en-US" sz="2400" dirty="0"/>
              <a:t> Tree, Graph, HashMap, HashSet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800" b="1" dirty="0"/>
              <a:t>Java Collections Framework</a:t>
            </a:r>
            <a:r>
              <a:rPr lang="en-US" sz="2800" dirty="0"/>
              <a:t> (</a:t>
            </a:r>
            <a:r>
              <a:rPr lang="en-US" sz="2800" dirty="0" err="1"/>
              <a:t>java.util</a:t>
            </a:r>
            <a:r>
              <a:rPr lang="en-US" sz="2800" dirty="0"/>
              <a:t>)</a:t>
            </a:r>
            <a:br>
              <a:rPr lang="en-US" sz="2400" dirty="0"/>
            </a:br>
            <a:r>
              <a:rPr lang="en-US" sz="2400" dirty="0"/>
              <a:t>	Provides ready‑made interfaces and classes for common data structures.</a:t>
            </a:r>
          </a:p>
        </p:txBody>
      </p:sp>
    </p:spTree>
    <p:extLst>
      <p:ext uri="{BB962C8B-B14F-4D97-AF65-F5344CB8AC3E}">
        <p14:creationId xmlns:p14="http://schemas.microsoft.com/office/powerpoint/2010/main" val="178130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07C7-50B2-D5AE-7C22-7D10CEB3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3E8782-0F95-6E02-A54C-16A6136CE31B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Array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B00FDB-2793-641E-62AD-5C331C327F9D}"/>
              </a:ext>
            </a:extLst>
          </p:cNvPr>
          <p:cNvSpPr txBox="1"/>
          <p:nvPr/>
        </p:nvSpPr>
        <p:spPr>
          <a:xfrm>
            <a:off x="688814" y="1505396"/>
            <a:ext cx="1081436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array is a </a:t>
            </a:r>
            <a:r>
              <a:rPr lang="en-US" sz="2400" b="1" dirty="0"/>
              <a:t>contiguous block of memory</a:t>
            </a:r>
            <a:r>
              <a:rPr lang="en-US" sz="2400" dirty="0"/>
              <a:t> holding a fixed number of </a:t>
            </a:r>
            <a:r>
              <a:rPr lang="en-US" sz="2400" b="1" dirty="0"/>
              <a:t>homogeneous elements</a:t>
            </a:r>
            <a:r>
              <a:rPr lang="en-US" sz="2400" dirty="0"/>
              <a:t> (all of the same type).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elements are stored </a:t>
            </a:r>
            <a:r>
              <a:rPr lang="en-US" sz="2400" b="1" dirty="0"/>
              <a:t>sequentially in memory</a:t>
            </a:r>
            <a:r>
              <a:rPr lang="en-US" sz="2400" dirty="0"/>
              <a:t>, enabling </a:t>
            </a:r>
            <a:r>
              <a:rPr lang="en-US" sz="2400" b="1" dirty="0"/>
              <a:t>constant‑time (O(1)) random access</a:t>
            </a:r>
            <a:r>
              <a:rPr lang="en-US" sz="2400" dirty="0"/>
              <a:t> via an integer index. The memory address of an element is calculated as: </a:t>
            </a:r>
            <a:r>
              <a:rPr lang="en-US" sz="2400" dirty="0" err="1"/>
              <a:t>base_address</a:t>
            </a:r>
            <a:r>
              <a:rPr lang="en-US" sz="2400" dirty="0"/>
              <a:t> + (index * </a:t>
            </a:r>
            <a:r>
              <a:rPr lang="en-US" sz="2400" dirty="0" err="1"/>
              <a:t>element_size</a:t>
            </a:r>
            <a:r>
              <a:rPr lang="en-US" sz="2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Indexing starts at 0</a:t>
            </a:r>
            <a:r>
              <a:rPr lang="en-US" sz="2400" dirty="0"/>
              <a:t> and goes up to </a:t>
            </a:r>
            <a:r>
              <a:rPr lang="en-US" sz="2400" b="1" dirty="0"/>
              <a:t>(length - 1) </a:t>
            </a:r>
            <a:r>
              <a:rPr lang="en-US" sz="2400" dirty="0"/>
              <a:t>in java.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size is </a:t>
            </a:r>
            <a:r>
              <a:rPr lang="en-US" sz="2400" b="1" dirty="0"/>
              <a:t>immutable</a:t>
            </a:r>
            <a:r>
              <a:rPr lang="en-US" sz="2400" dirty="0"/>
              <a:t> after creation.</a:t>
            </a:r>
          </a:p>
          <a:p>
            <a:endParaRPr lang="fa-IR" sz="2400" b="1" dirty="0"/>
          </a:p>
          <a:p>
            <a:r>
              <a:rPr lang="en-US" sz="2800" b="1" dirty="0"/>
              <a:t>Limitation:</a:t>
            </a:r>
            <a:r>
              <a:rPr lang="en-US" sz="2800" dirty="0"/>
              <a:t> </a:t>
            </a:r>
            <a:r>
              <a:rPr lang="en-US" sz="2400" dirty="0"/>
              <a:t>size cannot change. Inserting/deleting in the middle is costly (shifting required).</a:t>
            </a:r>
          </a:p>
        </p:txBody>
      </p:sp>
    </p:spTree>
    <p:extLst>
      <p:ext uri="{BB962C8B-B14F-4D97-AF65-F5344CB8AC3E}">
        <p14:creationId xmlns:p14="http://schemas.microsoft.com/office/powerpoint/2010/main" val="3240415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695A9-9EDE-495F-C774-BC4AA114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83ED96-7EC4-0663-9EF6-CBABD98008F3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Array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1DDD3-4873-BC4F-AC9C-5E24275D5542}"/>
              </a:ext>
            </a:extLst>
          </p:cNvPr>
          <p:cNvSpPr txBox="1"/>
          <p:nvPr/>
        </p:nvSpPr>
        <p:spPr>
          <a:xfrm>
            <a:off x="619027" y="735955"/>
            <a:ext cx="10953942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One‑dimensional array</a:t>
            </a:r>
            <a:br>
              <a:rPr lang="en-US" sz="2400" dirty="0"/>
            </a:br>
            <a:r>
              <a:rPr lang="en-US" sz="2400" dirty="0"/>
              <a:t>	A simple linear sequence of values. Access is direct: the index directly maps to a memory offset.</a:t>
            </a:r>
          </a:p>
          <a:p>
            <a:endParaRPr lang="en-US" sz="2400" dirty="0"/>
          </a:p>
          <a:p>
            <a:r>
              <a:rPr lang="en-US" sz="2800" b="1" dirty="0"/>
              <a:t>Multidimensional arrays in Java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Java implements multidimensional arrays as </a:t>
            </a:r>
            <a:r>
              <a:rPr lang="en-US" sz="2400" b="1" dirty="0"/>
              <a:t>arrays of references</a:t>
            </a:r>
            <a:r>
              <a:rPr lang="en-US" sz="2400" dirty="0"/>
              <a:t> to other arrays (arrays of arrays).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a 2D array, the outermost array holds </a:t>
            </a:r>
            <a:r>
              <a:rPr lang="en-US" sz="2400" b="1" dirty="0"/>
              <a:t>references</a:t>
            </a:r>
            <a:r>
              <a:rPr lang="en-US" sz="2400" dirty="0"/>
              <a:t> to separate row arrays. These row arrays are themselves objects stored on the heap, so the memory for the whole 2D structure is </a:t>
            </a:r>
            <a:r>
              <a:rPr lang="en-US" sz="2400" b="1" dirty="0"/>
              <a:t>not necessarily contiguous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Accessing an element a[</a:t>
            </a:r>
            <a:r>
              <a:rPr lang="en-US" sz="2400" dirty="0" err="1"/>
              <a:t>i</a:t>
            </a:r>
            <a:r>
              <a:rPr lang="en-US" sz="2400" dirty="0"/>
              <a:t>][j] requires </a:t>
            </a:r>
            <a:r>
              <a:rPr lang="en-US" sz="2400" b="1" dirty="0"/>
              <a:t>two levels of indirection</a:t>
            </a:r>
            <a:r>
              <a:rPr lang="en-US" sz="2400" dirty="0"/>
              <a:t>: first, the reference at index </a:t>
            </a:r>
            <a:r>
              <a:rPr lang="en-US" sz="2400" dirty="0" err="1"/>
              <a:t>i</a:t>
            </a:r>
            <a:r>
              <a:rPr lang="en-US" sz="2400" dirty="0"/>
              <a:t> of the outer array is retrieved, then index j of that inner array is used.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design allows </a:t>
            </a:r>
            <a:r>
              <a:rPr lang="en-US" sz="2400" b="1" dirty="0"/>
              <a:t>jagged arrays</a:t>
            </a:r>
            <a:r>
              <a:rPr lang="en-US" sz="2400" dirty="0"/>
              <a:t> – rows can have different lengths – because each inner array is independently allocated.</a:t>
            </a:r>
          </a:p>
        </p:txBody>
      </p:sp>
    </p:spTree>
    <p:extLst>
      <p:ext uri="{BB962C8B-B14F-4D97-AF65-F5344CB8AC3E}">
        <p14:creationId xmlns:p14="http://schemas.microsoft.com/office/powerpoint/2010/main" val="148548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393E-F455-FC22-E032-67D04556E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BB070A-96BF-4592-3911-B93D53FE49FA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 err="1"/>
              <a:t>ArrayList</a:t>
            </a:r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42BD73-11B4-28C7-7194-F9248772FA6C}"/>
              </a:ext>
            </a:extLst>
          </p:cNvPr>
          <p:cNvSpPr txBox="1"/>
          <p:nvPr/>
        </p:nvSpPr>
        <p:spPr>
          <a:xfrm>
            <a:off x="790844" y="1472470"/>
            <a:ext cx="10610307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Resizable‑array implementation of the List interface.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Fast random access</a:t>
            </a:r>
            <a:r>
              <a:rPr lang="en-US" sz="2400" dirty="0"/>
              <a:t> (O(1)) by index.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Adding elements at the end is </a:t>
            </a:r>
            <a:r>
              <a:rPr lang="en-US" sz="2400" dirty="0" err="1"/>
              <a:t>amortised</a:t>
            </a:r>
            <a:r>
              <a:rPr lang="en-US" sz="2400" dirty="0"/>
              <a:t> O(1), while inserting/removing inside the list requires shifting (O(n)).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Only stores objects; uses generics for type safety.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Provides many utility methods: add, get, remove, contains, sort.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Grows dynamically – no need to predefine capacity.</a:t>
            </a:r>
          </a:p>
        </p:txBody>
      </p:sp>
    </p:spTree>
    <p:extLst>
      <p:ext uri="{BB962C8B-B14F-4D97-AF65-F5344CB8AC3E}">
        <p14:creationId xmlns:p14="http://schemas.microsoft.com/office/powerpoint/2010/main" val="340340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8F2C-22BC-6750-16CB-6E1033AA1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CDD157-483F-A776-AB2B-340436D3E072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LinkedList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BBA24F-8981-67D0-80D4-64CE4F269C6D}"/>
              </a:ext>
            </a:extLst>
          </p:cNvPr>
          <p:cNvSpPr txBox="1"/>
          <p:nvPr/>
        </p:nvSpPr>
        <p:spPr>
          <a:xfrm>
            <a:off x="1181562" y="2026468"/>
            <a:ext cx="982887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Doubly‑linked list implementation of both List and Deque.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Efficient insertion/deletion</a:t>
            </a:r>
            <a:r>
              <a:rPr lang="en-US" sz="2400" dirty="0"/>
              <a:t> at the ends or with an iterator – O(1).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Access by index is O(n) because the list must be traversed.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Can be used as a lightweight queue or stack.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Key methods: </a:t>
            </a:r>
            <a:r>
              <a:rPr lang="en-US" sz="2400" dirty="0" err="1"/>
              <a:t>addFirst</a:t>
            </a:r>
            <a:r>
              <a:rPr lang="en-US" sz="2400" dirty="0"/>
              <a:t>, </a:t>
            </a:r>
            <a:r>
              <a:rPr lang="en-US" sz="2400" dirty="0" err="1"/>
              <a:t>addLast</a:t>
            </a:r>
            <a:r>
              <a:rPr lang="en-US" sz="2400" dirty="0"/>
              <a:t>, </a:t>
            </a:r>
            <a:r>
              <a:rPr lang="en-US" sz="2400" dirty="0" err="1"/>
              <a:t>getFirst</a:t>
            </a:r>
            <a:r>
              <a:rPr lang="en-US" sz="2400" dirty="0"/>
              <a:t>, </a:t>
            </a:r>
            <a:r>
              <a:rPr lang="en-US" sz="2400" dirty="0" err="1"/>
              <a:t>getLast</a:t>
            </a:r>
            <a:r>
              <a:rPr lang="en-US" sz="2400" dirty="0"/>
              <a:t>, </a:t>
            </a:r>
            <a:r>
              <a:rPr lang="en-US" sz="2400" dirty="0" err="1"/>
              <a:t>removeFirst</a:t>
            </a:r>
            <a:r>
              <a:rPr lang="en-US" sz="2400" dirty="0"/>
              <a:t>, </a:t>
            </a:r>
            <a:r>
              <a:rPr lang="en-US" sz="2400" dirty="0" err="1"/>
              <a:t>removeLast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7420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5A3E-E3D8-07FC-7FC0-DD733C78C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FB5805-157A-F7AB-E4E6-CDAC0BFCECD8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Stack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676FEF-5697-6894-BD01-F523B394F9D7}"/>
              </a:ext>
            </a:extLst>
          </p:cNvPr>
          <p:cNvSpPr txBox="1"/>
          <p:nvPr/>
        </p:nvSpPr>
        <p:spPr>
          <a:xfrm>
            <a:off x="1181562" y="2026468"/>
            <a:ext cx="982887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Last‑In‑First‑Out.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legacy Stack class exists, but Deque implementations (like </a:t>
            </a:r>
            <a:r>
              <a:rPr lang="en-US" sz="2400" dirty="0" err="1"/>
              <a:t>ArrayDeque</a:t>
            </a:r>
            <a:r>
              <a:rPr lang="en-US" sz="2400" dirty="0"/>
              <a:t>) are preferred.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Core operations: </a:t>
            </a:r>
            <a:r>
              <a:rPr lang="en-US" sz="2400" b="1" dirty="0"/>
              <a:t>push</a:t>
            </a:r>
            <a:r>
              <a:rPr lang="en-US" sz="2400" dirty="0"/>
              <a:t> (add to top), </a:t>
            </a:r>
            <a:r>
              <a:rPr lang="en-US" sz="2400" b="1" dirty="0"/>
              <a:t>pop</a:t>
            </a:r>
            <a:r>
              <a:rPr lang="en-US" sz="2400" dirty="0"/>
              <a:t> (remove from top), </a:t>
            </a:r>
            <a:r>
              <a:rPr lang="en-US" sz="2400" b="1" dirty="0"/>
              <a:t>peek</a:t>
            </a:r>
            <a:r>
              <a:rPr lang="en-US" sz="2400" dirty="0"/>
              <a:t> (view top without removing).</a:t>
            </a:r>
          </a:p>
        </p:txBody>
      </p:sp>
    </p:spTree>
    <p:extLst>
      <p:ext uri="{BB962C8B-B14F-4D97-AF65-F5344CB8AC3E}">
        <p14:creationId xmlns:p14="http://schemas.microsoft.com/office/powerpoint/2010/main" val="1187146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061E-932E-862E-7E61-5526BD2A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9ADB7E-911F-5EE4-C982-C00D40C7D26A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Queue &amp; Deque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9499C5-BD42-04CC-46C7-7AFFE2E8F762}"/>
              </a:ext>
            </a:extLst>
          </p:cNvPr>
          <p:cNvSpPr txBox="1"/>
          <p:nvPr/>
        </p:nvSpPr>
        <p:spPr>
          <a:xfrm>
            <a:off x="1126042" y="1228397"/>
            <a:ext cx="993991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Queue (FIFO)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First‑In‑First‑Out.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Main operations: </a:t>
            </a:r>
            <a:r>
              <a:rPr lang="en-US" sz="2400" b="1" dirty="0"/>
              <a:t>offer</a:t>
            </a:r>
            <a:r>
              <a:rPr lang="en-US" sz="2400" dirty="0"/>
              <a:t> (add to end), </a:t>
            </a:r>
            <a:r>
              <a:rPr lang="en-US" sz="2400" b="1" dirty="0"/>
              <a:t>poll</a:t>
            </a:r>
            <a:r>
              <a:rPr lang="en-US" sz="2400" dirty="0"/>
              <a:t> (remove from front), </a:t>
            </a:r>
            <a:r>
              <a:rPr lang="en-US" sz="2400" b="1" dirty="0"/>
              <a:t>peek</a:t>
            </a:r>
            <a:r>
              <a:rPr lang="en-US" sz="2400" dirty="0"/>
              <a:t> (view front).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Common implementations: LinkedList, </a:t>
            </a:r>
            <a:r>
              <a:rPr lang="en-US" sz="2400" dirty="0" err="1"/>
              <a:t>ArrayDeque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800" b="1" dirty="0"/>
              <a:t>Deque (double‑ended queue)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Allows insertion and deletion at both ends.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Operates as </a:t>
            </a:r>
            <a:r>
              <a:rPr lang="en-US" sz="2400" dirty="0" err="1"/>
              <a:t>addFirst</a:t>
            </a:r>
            <a:r>
              <a:rPr lang="en-US" sz="2400" dirty="0"/>
              <a:t> / </a:t>
            </a:r>
            <a:r>
              <a:rPr lang="en-US" sz="2400" dirty="0" err="1"/>
              <a:t>addLast</a:t>
            </a:r>
            <a:r>
              <a:rPr lang="en-US" sz="2400" dirty="0"/>
              <a:t>, </a:t>
            </a:r>
            <a:r>
              <a:rPr lang="en-US" sz="2400" dirty="0" err="1"/>
              <a:t>removeFirst</a:t>
            </a:r>
            <a:r>
              <a:rPr lang="en-US" sz="2400" dirty="0"/>
              <a:t> / </a:t>
            </a:r>
            <a:r>
              <a:rPr lang="en-US" sz="2400" dirty="0" err="1"/>
              <a:t>removeLast</a:t>
            </a:r>
            <a:r>
              <a:rPr lang="en-US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Can be used as either a queue or a stack.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Preferred general‑purpose implementation: </a:t>
            </a:r>
            <a:r>
              <a:rPr lang="en-US" sz="2400" dirty="0" err="1"/>
              <a:t>ArrayDeque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366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93CDB-6CDA-2C10-5AB1-E5D3E85C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72F973-FD67-4B93-3DE9-647C5106AC92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Set – HashSet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EBD9E7-5138-B6BE-9785-0DA55649CB35}"/>
              </a:ext>
            </a:extLst>
          </p:cNvPr>
          <p:cNvSpPr txBox="1"/>
          <p:nvPr/>
        </p:nvSpPr>
        <p:spPr>
          <a:xfrm>
            <a:off x="1358215" y="2123578"/>
            <a:ext cx="9475566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Collection that </a:t>
            </a:r>
            <a:r>
              <a:rPr lang="en-US" sz="2800" b="1" dirty="0"/>
              <a:t>disallows duplicates</a:t>
            </a:r>
            <a:r>
              <a:rPr lang="en-US" sz="28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No order is guaranteed.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Average O(1) time for basic operations: add, remove, contains.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Relies on </a:t>
            </a:r>
            <a:r>
              <a:rPr lang="en-US" sz="2800" dirty="0" err="1"/>
              <a:t>hashCode</a:t>
            </a:r>
            <a:r>
              <a:rPr lang="en-US" sz="2800" dirty="0"/>
              <a:t>() and equals() for object comparison.</a:t>
            </a:r>
          </a:p>
        </p:txBody>
      </p:sp>
    </p:spTree>
    <p:extLst>
      <p:ext uri="{BB962C8B-B14F-4D97-AF65-F5344CB8AC3E}">
        <p14:creationId xmlns:p14="http://schemas.microsoft.com/office/powerpoint/2010/main" val="1180924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A5FD3-F9EA-8FE0-F7D8-FB3912AD4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954A01-2B4E-A722-33A9-D1299027F60A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Map – HashMap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B2B72D-46D9-57D2-508B-B799F126C14B}"/>
              </a:ext>
            </a:extLst>
          </p:cNvPr>
          <p:cNvSpPr txBox="1"/>
          <p:nvPr/>
        </p:nvSpPr>
        <p:spPr>
          <a:xfrm>
            <a:off x="2073439" y="2026468"/>
            <a:ext cx="8045118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Stores </a:t>
            </a:r>
            <a:r>
              <a:rPr lang="en-US" sz="2400" b="1" dirty="0"/>
              <a:t>key‑value pairs</a:t>
            </a:r>
            <a:r>
              <a:rPr lang="en-US" sz="2400" dirty="0"/>
              <a:t>, keys must be unique.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 ordering guarantee.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Average O(1) for put, get, remove, </a:t>
            </a:r>
            <a:r>
              <a:rPr lang="en-US" sz="2400" dirty="0" err="1"/>
              <a:t>containsKey</a:t>
            </a:r>
            <a:r>
              <a:rPr lang="en-US" sz="24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Relies on </a:t>
            </a:r>
            <a:r>
              <a:rPr lang="en-US" sz="2400" dirty="0" err="1"/>
              <a:t>hashCode</a:t>
            </a:r>
            <a:r>
              <a:rPr lang="en-US" sz="2400" dirty="0"/>
              <a:t>() and equals() of the key objects.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One null key allowed, multiple null values allowed.</a:t>
            </a:r>
          </a:p>
        </p:txBody>
      </p:sp>
    </p:spTree>
    <p:extLst>
      <p:ext uri="{BB962C8B-B14F-4D97-AF65-F5344CB8AC3E}">
        <p14:creationId xmlns:p14="http://schemas.microsoft.com/office/powerpoint/2010/main" val="313070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1016D-9223-A7F3-B6C4-545EE9308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2E4725-8E96-C194-5302-9634EACC6A30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Choosing the Right Data Structure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3FB4CC-E0CF-C678-BF99-ADCA5123D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810135"/>
              </p:ext>
            </p:extLst>
          </p:nvPr>
        </p:nvGraphicFramePr>
        <p:xfrm>
          <a:off x="1648734" y="1223134"/>
          <a:ext cx="8894528" cy="441173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447264">
                  <a:extLst>
                    <a:ext uri="{9D8B030D-6E8A-4147-A177-3AD203B41FA5}">
                      <a16:colId xmlns:a16="http://schemas.microsoft.com/office/drawing/2014/main" val="681066212"/>
                    </a:ext>
                  </a:extLst>
                </a:gridCol>
                <a:gridCol w="4447264">
                  <a:extLst>
                    <a:ext uri="{9D8B030D-6E8A-4147-A177-3AD203B41FA5}">
                      <a16:colId xmlns:a16="http://schemas.microsoft.com/office/drawing/2014/main" val="3506943444"/>
                    </a:ext>
                  </a:extLst>
                </a:gridCol>
              </a:tblGrid>
              <a:tr h="553751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Requirement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Suggested Structure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597877"/>
                  </a:ext>
                </a:extLst>
              </a:tr>
              <a:tr h="5511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Frequent random access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Array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954795"/>
                  </a:ext>
                </a:extLst>
              </a:tr>
              <a:tr h="5511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Many insertions/deletions inside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LinkedList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747823"/>
                  </a:ext>
                </a:extLst>
              </a:tr>
              <a:tr h="5511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 lookup, no duplicates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HashSet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4881"/>
                  </a:ext>
                </a:extLst>
              </a:tr>
              <a:tr h="5511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 elements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TreeSet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TreeMap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970305"/>
                  </a:ext>
                </a:extLst>
              </a:tr>
              <a:tr h="5511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Key‑value pairs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HashMap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513294"/>
                  </a:ext>
                </a:extLst>
              </a:tr>
              <a:tr h="5511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LIFO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Deque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(as stack)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245105"/>
                  </a:ext>
                </a:extLst>
              </a:tr>
              <a:tr h="5511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FIFO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Queue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ArrayDeque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LinkedList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67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36223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763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Retrospect</vt:lpstr>
      <vt:lpstr>Java Data Structures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Ramin Iranmanesh</dc:creator>
  <cp:lastModifiedBy>Ramin Iranmanesh</cp:lastModifiedBy>
  <cp:revision>2</cp:revision>
  <dcterms:created xsi:type="dcterms:W3CDTF">2026-05-04T16:56:27Z</dcterms:created>
  <dcterms:modified xsi:type="dcterms:W3CDTF">2026-05-04T16:58:02Z</dcterms:modified>
</cp:coreProperties>
</file>