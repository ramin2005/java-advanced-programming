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8" r:id="rId3"/>
    <p:sldId id="259" r:id="rId4"/>
    <p:sldId id="260" r:id="rId5"/>
    <p:sldId id="264" r:id="rId6"/>
    <p:sldId id="265" r:id="rId7"/>
    <p:sldId id="266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0" d="100"/>
          <a:sy n="100" d="100"/>
        </p:scale>
        <p:origin x="71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3985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9170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522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472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413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8527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0503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84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36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1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8FC4484-2015-42D6-8B77-7AF40A59800F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933FA6DB-6B8D-419B-AF0F-8F41E3DB109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1965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01F14-9B9A-852E-499F-63373939D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034450"/>
          </a:xfrm>
        </p:spPr>
        <p:txBody>
          <a:bodyPr/>
          <a:lstStyle/>
          <a:p>
            <a:pPr algn="ctr"/>
            <a:r>
              <a:rPr lang="en-US" dirty="0"/>
              <a:t>Java Data Types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0300DF-88CD-F4A4-6ECF-F0AA834D8D1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5831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92962B6-ECA1-6C10-C8C9-6A10004A6373}"/>
              </a:ext>
            </a:extLst>
          </p:cNvPr>
          <p:cNvSpPr txBox="1"/>
          <p:nvPr/>
        </p:nvSpPr>
        <p:spPr>
          <a:xfrm>
            <a:off x="3047246" y="36759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Data Types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475497-719F-6209-6981-BF64A928F0D6}"/>
              </a:ext>
            </a:extLst>
          </p:cNvPr>
          <p:cNvSpPr txBox="1"/>
          <p:nvPr/>
        </p:nvSpPr>
        <p:spPr>
          <a:xfrm>
            <a:off x="790846" y="1628507"/>
            <a:ext cx="1061030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Primitive Types:</a:t>
            </a:r>
          </a:p>
          <a:p>
            <a:r>
              <a:rPr lang="en-US" sz="2400" dirty="0"/>
              <a:t>	These types store simple values directly in memory and have high performance. These types are divided into numeric and non‑numeric categories.</a:t>
            </a:r>
            <a:endParaRPr lang="fa-IR" sz="2400" dirty="0"/>
          </a:p>
          <a:p>
            <a:endParaRPr lang="fa-IR" sz="2400" dirty="0"/>
          </a:p>
          <a:p>
            <a:endParaRPr lang="fa-IR" sz="2400" dirty="0"/>
          </a:p>
          <a:p>
            <a:r>
              <a:rPr lang="en-US" sz="2800" b="1" dirty="0"/>
              <a:t>Reference Types:</a:t>
            </a:r>
            <a:br>
              <a:rPr lang="en-US" sz="2400" dirty="0"/>
            </a:br>
            <a:r>
              <a:rPr lang="fa-IR" sz="2400" dirty="0"/>
              <a:t>	</a:t>
            </a:r>
            <a:r>
              <a:rPr lang="en-US" sz="2400" dirty="0"/>
              <a:t>These types store the address (reference) of an object in memory. Their default value is null.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781456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15921D-D1AE-618A-5DEA-43E533F07E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0685ECD-A150-B4C7-D655-9401005F4D98}"/>
              </a:ext>
            </a:extLst>
          </p:cNvPr>
          <p:cNvSpPr txBox="1"/>
          <p:nvPr/>
        </p:nvSpPr>
        <p:spPr>
          <a:xfrm>
            <a:off x="3047246" y="36759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Integer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E83919-6995-D35A-3871-EE63D4FFC1C5}"/>
              </a:ext>
            </a:extLst>
          </p:cNvPr>
          <p:cNvSpPr txBox="1"/>
          <p:nvPr/>
        </p:nvSpPr>
        <p:spPr>
          <a:xfrm>
            <a:off x="670140" y="1443395"/>
            <a:ext cx="54258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byte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8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-128 to 127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9C9078-AD7F-EFD3-AFBA-9F83ADC7F786}"/>
              </a:ext>
            </a:extLst>
          </p:cNvPr>
          <p:cNvSpPr txBox="1"/>
          <p:nvPr/>
        </p:nvSpPr>
        <p:spPr>
          <a:xfrm>
            <a:off x="670140" y="3429000"/>
            <a:ext cx="5425859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int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32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-2,147,483,648 to 2,147,483,647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60572-35F6-74BA-7423-B37931C28014}"/>
              </a:ext>
            </a:extLst>
          </p:cNvPr>
          <p:cNvSpPr txBox="1"/>
          <p:nvPr/>
        </p:nvSpPr>
        <p:spPr>
          <a:xfrm>
            <a:off x="6431825" y="3429000"/>
            <a:ext cx="542585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long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64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-9,223,372,036,854,775,808 to 9,223,372,036,854,775,807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765A186-9CE9-3157-07C8-83C6D5B73343}"/>
              </a:ext>
            </a:extLst>
          </p:cNvPr>
          <p:cNvSpPr txBox="1"/>
          <p:nvPr/>
        </p:nvSpPr>
        <p:spPr>
          <a:xfrm>
            <a:off x="6434182" y="1443395"/>
            <a:ext cx="542585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short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16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-32,768 to 32,767</a:t>
            </a:r>
            <a:endParaRPr lang="en-US" sz="2400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7661843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501B0-0A03-40DC-5FCB-B4D726704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43F80BA-781B-1B41-469A-FB4040A9A594}"/>
              </a:ext>
            </a:extLst>
          </p:cNvPr>
          <p:cNvSpPr txBox="1"/>
          <p:nvPr/>
        </p:nvSpPr>
        <p:spPr>
          <a:xfrm>
            <a:off x="3047246" y="367595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Floating-Point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62CF4D-50AD-A48E-8D74-73719AAFE526}"/>
              </a:ext>
            </a:extLst>
          </p:cNvPr>
          <p:cNvSpPr txBox="1"/>
          <p:nvPr/>
        </p:nvSpPr>
        <p:spPr>
          <a:xfrm>
            <a:off x="2820200" y="1628507"/>
            <a:ext cx="6551599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float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32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approx. 1.4e-45 to 3.4e+38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Single-precision floating-point </a:t>
            </a:r>
          </a:p>
          <a:p>
            <a:endParaRPr lang="fa-IR" sz="2800" b="1" dirty="0"/>
          </a:p>
          <a:p>
            <a:r>
              <a:rPr lang="en-US" sz="2800" b="1" dirty="0"/>
              <a:t>double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64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 approx. 4.9e-324 to 1.8e+308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Double-precision floating-point</a:t>
            </a:r>
          </a:p>
        </p:txBody>
      </p:sp>
    </p:spTree>
    <p:extLst>
      <p:ext uri="{BB962C8B-B14F-4D97-AF65-F5344CB8AC3E}">
        <p14:creationId xmlns:p14="http://schemas.microsoft.com/office/powerpoint/2010/main" val="1159323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2B797F-A7CE-4DBC-9928-BAB592EF0C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9934781-EAE2-0FAE-3D39-963653996791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Non-Numerical Types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18CF60E-6E1F-34CA-BF6B-DAA1CEFBDAED}"/>
              </a:ext>
            </a:extLst>
          </p:cNvPr>
          <p:cNvSpPr txBox="1"/>
          <p:nvPr/>
        </p:nvSpPr>
        <p:spPr>
          <a:xfrm>
            <a:off x="2757554" y="1628507"/>
            <a:ext cx="6676887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char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16 bits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Range: '\u0000' to '\</a:t>
            </a:r>
            <a:r>
              <a:rPr lang="en-US" sz="2400" dirty="0" err="1"/>
              <a:t>uffff</a:t>
            </a:r>
            <a:r>
              <a:rPr lang="en-US" sz="2400" dirty="0"/>
              <a:t>' (0 to 65,535)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A single Unicode character</a:t>
            </a:r>
          </a:p>
          <a:p>
            <a:endParaRPr lang="fa-IR" sz="2800" b="1" dirty="0"/>
          </a:p>
          <a:p>
            <a:r>
              <a:rPr lang="en-US" sz="2800" b="1" dirty="0" err="1"/>
              <a:t>boolean</a:t>
            </a:r>
            <a:endParaRPr lang="en-US" sz="2800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Size: JVM‑dependent (typically 1 byte or 1 bit)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Values: true or false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dirty="0"/>
              <a:t>Description: Logical value (truth value)</a:t>
            </a:r>
          </a:p>
        </p:txBody>
      </p:sp>
    </p:spTree>
    <p:extLst>
      <p:ext uri="{BB962C8B-B14F-4D97-AF65-F5344CB8AC3E}">
        <p14:creationId xmlns:p14="http://schemas.microsoft.com/office/powerpoint/2010/main" val="6115900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BC5A6-8257-A253-F70D-B4A3BEFA0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36E2577-4C8D-880F-5024-882972E0DA41}"/>
              </a:ext>
            </a:extLst>
          </p:cNvPr>
          <p:cNvSpPr txBox="1"/>
          <p:nvPr/>
        </p:nvSpPr>
        <p:spPr>
          <a:xfrm>
            <a:off x="858570" y="358542"/>
            <a:ext cx="1047485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Primitive Types Summary Table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16A8B5-AB9B-F9DA-164D-737FB5EB4D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9839468"/>
              </p:ext>
            </p:extLst>
          </p:nvPr>
        </p:nvGraphicFramePr>
        <p:xfrm>
          <a:off x="1043097" y="1104399"/>
          <a:ext cx="10105806" cy="496292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1535632">
                  <a:extLst>
                    <a:ext uri="{9D8B030D-6E8A-4147-A177-3AD203B41FA5}">
                      <a16:colId xmlns:a16="http://schemas.microsoft.com/office/drawing/2014/main" val="2244440888"/>
                    </a:ext>
                  </a:extLst>
                </a:gridCol>
                <a:gridCol w="2245260">
                  <a:extLst>
                    <a:ext uri="{9D8B030D-6E8A-4147-A177-3AD203B41FA5}">
                      <a16:colId xmlns:a16="http://schemas.microsoft.com/office/drawing/2014/main" val="549673154"/>
                    </a:ext>
                  </a:extLst>
                </a:gridCol>
                <a:gridCol w="3832132">
                  <a:extLst>
                    <a:ext uri="{9D8B030D-6E8A-4147-A177-3AD203B41FA5}">
                      <a16:colId xmlns:a16="http://schemas.microsoft.com/office/drawing/2014/main" val="2648905586"/>
                    </a:ext>
                  </a:extLst>
                </a:gridCol>
                <a:gridCol w="2492782">
                  <a:extLst>
                    <a:ext uri="{9D8B030D-6E8A-4147-A177-3AD203B41FA5}">
                      <a16:colId xmlns:a16="http://schemas.microsoft.com/office/drawing/2014/main" val="1975884164"/>
                    </a:ext>
                  </a:extLst>
                </a:gridCol>
              </a:tblGrid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Size (bits)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Range / Values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 Value</a:t>
                      </a:r>
                      <a:endParaRPr lang="en-US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617698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byte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-128 to 127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8190753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short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-32,768 to 32,767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5920555"/>
                  </a:ext>
                </a:extLst>
              </a:tr>
              <a:tr h="56481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-2,147,483,648 to 2,147,483,647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01399908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long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-9,223,372,036,854,775,808 to 9,223,372,036,854,775,807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4189155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approx. 1.4e-45 to 3.4e+38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0912432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double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it-IT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approx. 4.9e-324 to 1.8e+308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0.0d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4764082"/>
                  </a:ext>
                </a:extLst>
              </a:tr>
              <a:tr h="496954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char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dirty="0"/>
                        <a:t>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'\u0000'</a:t>
                      </a:r>
                      <a:r>
                        <a:rPr lang="pl-PL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to </a:t>
                      </a:r>
                      <a:r>
                        <a:rPr lang="pl-PL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'\uffff'</a:t>
                      </a:r>
                      <a:r>
                        <a:rPr lang="pl-PL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(0 to 65,535)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l-PL" sz="24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'\u0000'</a:t>
                      </a:r>
                      <a:r>
                        <a:rPr lang="pl-PL" sz="24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8045705"/>
                  </a:ext>
                </a:extLst>
              </a:tr>
              <a:tr h="451686">
                <a:tc>
                  <a:txBody>
                    <a:bodyPr/>
                    <a:lstStyle/>
                    <a:p>
                      <a:pPr algn="ctr"/>
                      <a:r>
                        <a:rPr lang="en-US" sz="2200" dirty="0" err="1"/>
                        <a:t>boolean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JVM-dependent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true</a:t>
                      </a:r>
                      <a:r>
                        <a:rPr lang="en-US" sz="22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or </a:t>
                      </a:r>
                      <a:r>
                        <a:rPr lang="en-US" sz="2200" b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false</a:t>
                      </a:r>
                      <a:endParaRPr lang="en-US" sz="2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6824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06607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D20B0-9682-8E94-F2F0-A78969595B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26E065-92E8-3EAF-7946-8DA1D642854B}"/>
              </a:ext>
            </a:extLst>
          </p:cNvPr>
          <p:cNvSpPr txBox="1"/>
          <p:nvPr/>
        </p:nvSpPr>
        <p:spPr>
          <a:xfrm>
            <a:off x="2617582" y="367595"/>
            <a:ext cx="69568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dirty="0"/>
              <a:t>Reference Types Categories </a:t>
            </a:r>
          </a:p>
        </p:txBody>
      </p:sp>
    </p:spTree>
    <p:extLst>
      <p:ext uri="{BB962C8B-B14F-4D97-AF65-F5344CB8AC3E}">
        <p14:creationId xmlns:p14="http://schemas.microsoft.com/office/powerpoint/2010/main" val="3827615744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02006FA4-1611-4B07-AF7F-85CF6D20EB3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96</TotalTime>
  <Words>288</Words>
  <Application>Microsoft Office PowerPoint</Application>
  <PresentationFormat>Widescreen</PresentationFormat>
  <Paragraphs>78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Retrospect</vt:lpstr>
      <vt:lpstr>Java Data Types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Ramin Iranmanesh</dc:creator>
  <cp:lastModifiedBy>Ramin Iranmanesh</cp:lastModifiedBy>
  <cp:revision>23</cp:revision>
  <dcterms:created xsi:type="dcterms:W3CDTF">2026-05-02T17:54:48Z</dcterms:created>
  <dcterms:modified xsi:type="dcterms:W3CDTF">2026-05-04T11:31:19Z</dcterms:modified>
</cp:coreProperties>
</file>