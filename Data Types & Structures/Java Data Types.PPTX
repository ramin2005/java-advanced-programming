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8" r:id="rId3"/>
    <p:sldId id="259" r:id="rId4"/>
    <p:sldId id="260" r:id="rId5"/>
    <p:sldId id="264" r:id="rId6"/>
    <p:sldId id="265" r:id="rId7"/>
    <p:sldId id="266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4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8E2CD7-925A-9C1B-23B9-6326AC7A28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2E2F37-BC4D-2126-99B7-F7A547FD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727EB-C79B-402E-9767-EC3466F7955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7F14A-7465-808C-3133-24DA3B78F1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Advanced Programming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84FBE0-A37C-6FEA-A039-47C6404606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4CEB1-CE75-42C1-BD05-71D632C96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13125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5F379-5F14-4053-9C4D-46157CB7803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Advanced Programming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4D9B4-FBB5-4CC6-8614-A35B15039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843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12F04-D2FC-4425-9ED8-D1B662F5DD4A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9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D604-3E64-4C0D-AD30-06674F0259C3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70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EDE00-08F8-4093-8D51-E4DF48BA9951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223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3D2B-E879-488B-9FA8-732EC0FF8D94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72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A154A-6621-4A7B-9F7C-EF3BC712C185}" type="datetime1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EF78-83F3-40B7-84D9-5C784C9A772C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4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F2D5-DCAF-4DFB-82B9-67CEB0D40581}" type="datetime1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A3FB098-44B7-49E5-B429-256D4CA2BE28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5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F9A-A765-4D75-8340-17C26F53DE9D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4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ADA33-83C6-40B2-A3D1-C4C4DD4FB960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369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90178-C71E-4918-A1D2-1FD8846187A0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75BFA79-659D-476D-925C-8C8600192CB1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965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01F14-9B9A-852E-499F-63373939D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903" y="2666245"/>
            <a:ext cx="10328193" cy="1330860"/>
          </a:xfrm>
        </p:spPr>
        <p:txBody>
          <a:bodyPr>
            <a:normAutofit/>
          </a:bodyPr>
          <a:lstStyle/>
          <a:p>
            <a:pPr algn="ctr"/>
            <a:r>
              <a:rPr lang="en-US" sz="7000" dirty="0"/>
              <a:t>Java Data Types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47CA7-9C1C-28C7-E0B4-7A294E634F94}"/>
              </a:ext>
            </a:extLst>
          </p:cNvPr>
          <p:cNvSpPr txBox="1"/>
          <p:nvPr/>
        </p:nvSpPr>
        <p:spPr>
          <a:xfrm>
            <a:off x="3030069" y="4528153"/>
            <a:ext cx="61318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Instructor: Dr. Sayyad Najafi</a:t>
            </a:r>
          </a:p>
          <a:p>
            <a:pPr algn="ctr"/>
            <a:r>
              <a:rPr lang="en-US" sz="2800" dirty="0"/>
              <a:t>Teaching Assistant: Ramin Iranmanesh</a:t>
            </a:r>
          </a:p>
        </p:txBody>
      </p:sp>
    </p:spTree>
    <p:extLst>
      <p:ext uri="{BB962C8B-B14F-4D97-AF65-F5344CB8AC3E}">
        <p14:creationId xmlns:p14="http://schemas.microsoft.com/office/powerpoint/2010/main" val="1155831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2962B6-ECA1-6C10-C8C9-6A10004A6373}"/>
              </a:ext>
            </a:extLst>
          </p:cNvPr>
          <p:cNvSpPr txBox="1"/>
          <p:nvPr/>
        </p:nvSpPr>
        <p:spPr>
          <a:xfrm>
            <a:off x="3047246" y="367595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Data Types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475497-719F-6209-6981-BF64A928F0D6}"/>
              </a:ext>
            </a:extLst>
          </p:cNvPr>
          <p:cNvSpPr txBox="1"/>
          <p:nvPr/>
        </p:nvSpPr>
        <p:spPr>
          <a:xfrm>
            <a:off x="790846" y="1628507"/>
            <a:ext cx="1061030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Primitive Types:</a:t>
            </a:r>
          </a:p>
          <a:p>
            <a:r>
              <a:rPr lang="en-US" sz="2400" dirty="0"/>
              <a:t>	These types store simple values directly in memory and have high performance. These types are divided into numeric and non‑numeric categories.</a:t>
            </a:r>
            <a:endParaRPr lang="fa-IR" sz="2400" dirty="0"/>
          </a:p>
          <a:p>
            <a:endParaRPr lang="fa-IR" sz="2400" dirty="0"/>
          </a:p>
          <a:p>
            <a:endParaRPr lang="fa-IR" sz="2400" dirty="0"/>
          </a:p>
          <a:p>
            <a:r>
              <a:rPr lang="en-US" sz="2800" b="1" dirty="0"/>
              <a:t>Reference Types:</a:t>
            </a:r>
            <a:br>
              <a:rPr lang="en-US" sz="2400" dirty="0"/>
            </a:br>
            <a:r>
              <a:rPr lang="fa-IR" sz="2400" dirty="0"/>
              <a:t>	</a:t>
            </a:r>
            <a:r>
              <a:rPr lang="en-US" sz="2400" dirty="0"/>
              <a:t>These types store the address (reference) of an object in memory. Their default value is null.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81456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5921D-D1AE-618A-5DEA-43E533F07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685ECD-A150-B4C7-D655-9401005F4D98}"/>
              </a:ext>
            </a:extLst>
          </p:cNvPr>
          <p:cNvSpPr txBox="1"/>
          <p:nvPr/>
        </p:nvSpPr>
        <p:spPr>
          <a:xfrm>
            <a:off x="3047246" y="367595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Primitive Integer 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E83919-6995-D35A-3871-EE63D4FFC1C5}"/>
              </a:ext>
            </a:extLst>
          </p:cNvPr>
          <p:cNvSpPr txBox="1"/>
          <p:nvPr/>
        </p:nvSpPr>
        <p:spPr>
          <a:xfrm>
            <a:off x="670140" y="1443395"/>
            <a:ext cx="542585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byte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8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-128 to 127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9C9078-AD7F-EFD3-AFBA-9F83ADC7F786}"/>
              </a:ext>
            </a:extLst>
          </p:cNvPr>
          <p:cNvSpPr txBox="1"/>
          <p:nvPr/>
        </p:nvSpPr>
        <p:spPr>
          <a:xfrm>
            <a:off x="670140" y="3429000"/>
            <a:ext cx="54258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32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-2,147,483,648 to 2,147,483,647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60572-35F6-74BA-7423-B37931C28014}"/>
              </a:ext>
            </a:extLst>
          </p:cNvPr>
          <p:cNvSpPr txBox="1"/>
          <p:nvPr/>
        </p:nvSpPr>
        <p:spPr>
          <a:xfrm>
            <a:off x="6431825" y="3429000"/>
            <a:ext cx="54258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long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64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-9,223,372,036,854,775,808 to 9,223,372,036,854,775,807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65A186-9CE9-3157-07C8-83C6D5B73343}"/>
              </a:ext>
            </a:extLst>
          </p:cNvPr>
          <p:cNvSpPr txBox="1"/>
          <p:nvPr/>
        </p:nvSpPr>
        <p:spPr>
          <a:xfrm>
            <a:off x="6434182" y="1443395"/>
            <a:ext cx="542585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short</a:t>
            </a: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16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-32,768 to 32,767</a:t>
            </a:r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66184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501B0-0A03-40DC-5FCB-B4D726704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3F80BA-781B-1B41-469A-FB4040A9A594}"/>
              </a:ext>
            </a:extLst>
          </p:cNvPr>
          <p:cNvSpPr txBox="1"/>
          <p:nvPr/>
        </p:nvSpPr>
        <p:spPr>
          <a:xfrm>
            <a:off x="3047246" y="367595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Primitive Floating-Point 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62CF4D-50AD-A48E-8D74-73719AAFE526}"/>
              </a:ext>
            </a:extLst>
          </p:cNvPr>
          <p:cNvSpPr txBox="1"/>
          <p:nvPr/>
        </p:nvSpPr>
        <p:spPr>
          <a:xfrm>
            <a:off x="2820200" y="1628507"/>
            <a:ext cx="655159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float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32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approx. 1.4e-45 to 3.4e+38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Description: Single-precision floating-point </a:t>
            </a:r>
          </a:p>
          <a:p>
            <a:endParaRPr lang="fa-IR" sz="2800" b="1" dirty="0"/>
          </a:p>
          <a:p>
            <a:r>
              <a:rPr lang="en-US" sz="2800" b="1" dirty="0"/>
              <a:t>double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64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approx. 4.9e-324 to 1.8e+308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Description: Double-precision floating-point</a:t>
            </a:r>
          </a:p>
        </p:txBody>
      </p:sp>
    </p:spTree>
    <p:extLst>
      <p:ext uri="{BB962C8B-B14F-4D97-AF65-F5344CB8AC3E}">
        <p14:creationId xmlns:p14="http://schemas.microsoft.com/office/powerpoint/2010/main" val="1159323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B797F-A7CE-4DBC-9928-BAB592EF0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934781-EAE2-0FAE-3D39-963653996791}"/>
              </a:ext>
            </a:extLst>
          </p:cNvPr>
          <p:cNvSpPr txBox="1"/>
          <p:nvPr/>
        </p:nvSpPr>
        <p:spPr>
          <a:xfrm>
            <a:off x="2617582" y="367595"/>
            <a:ext cx="69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Primitive Non-Numerical 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8CF60E-6E1F-34CA-BF6B-DAA1CEFBDAED}"/>
              </a:ext>
            </a:extLst>
          </p:cNvPr>
          <p:cNvSpPr txBox="1"/>
          <p:nvPr/>
        </p:nvSpPr>
        <p:spPr>
          <a:xfrm>
            <a:off x="2757554" y="1628507"/>
            <a:ext cx="667688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char</a:t>
            </a: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16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 '\u0000' to '\</a:t>
            </a:r>
            <a:r>
              <a:rPr lang="en-US" sz="2400" dirty="0" err="1"/>
              <a:t>uffff</a:t>
            </a:r>
            <a:r>
              <a:rPr lang="en-US" sz="2400" dirty="0"/>
              <a:t>' (0 to 65,535)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Description: A single Unicode character</a:t>
            </a:r>
          </a:p>
          <a:p>
            <a:endParaRPr lang="fa-IR" sz="2800" b="1" dirty="0"/>
          </a:p>
          <a:p>
            <a:r>
              <a:rPr lang="en-US" sz="2800" b="1" dirty="0" err="1"/>
              <a:t>boolean</a:t>
            </a: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JVM‑dependent (typically 1 byte or 1 bit)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Values: true or false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Description: Logical value (truth value)</a:t>
            </a:r>
          </a:p>
        </p:txBody>
      </p:sp>
    </p:spTree>
    <p:extLst>
      <p:ext uri="{BB962C8B-B14F-4D97-AF65-F5344CB8AC3E}">
        <p14:creationId xmlns:p14="http://schemas.microsoft.com/office/powerpoint/2010/main" val="611590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BC5A6-8257-A253-F70D-B4A3BEFA0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6E2577-4C8D-880F-5024-882972E0DA41}"/>
              </a:ext>
            </a:extLst>
          </p:cNvPr>
          <p:cNvSpPr txBox="1"/>
          <p:nvPr/>
        </p:nvSpPr>
        <p:spPr>
          <a:xfrm>
            <a:off x="858570" y="358542"/>
            <a:ext cx="10474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Primitive Types Summary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16A8B5-AB9B-F9DA-164D-737FB5EB4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839468"/>
              </p:ext>
            </p:extLst>
          </p:nvPr>
        </p:nvGraphicFramePr>
        <p:xfrm>
          <a:off x="1043097" y="1104399"/>
          <a:ext cx="10105806" cy="496292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35632">
                  <a:extLst>
                    <a:ext uri="{9D8B030D-6E8A-4147-A177-3AD203B41FA5}">
                      <a16:colId xmlns:a16="http://schemas.microsoft.com/office/drawing/2014/main" val="2244440888"/>
                    </a:ext>
                  </a:extLst>
                </a:gridCol>
                <a:gridCol w="2245260">
                  <a:extLst>
                    <a:ext uri="{9D8B030D-6E8A-4147-A177-3AD203B41FA5}">
                      <a16:colId xmlns:a16="http://schemas.microsoft.com/office/drawing/2014/main" val="549673154"/>
                    </a:ext>
                  </a:extLst>
                </a:gridCol>
                <a:gridCol w="3832132">
                  <a:extLst>
                    <a:ext uri="{9D8B030D-6E8A-4147-A177-3AD203B41FA5}">
                      <a16:colId xmlns:a16="http://schemas.microsoft.com/office/drawing/2014/main" val="2648905586"/>
                    </a:ext>
                  </a:extLst>
                </a:gridCol>
                <a:gridCol w="2492782">
                  <a:extLst>
                    <a:ext uri="{9D8B030D-6E8A-4147-A177-3AD203B41FA5}">
                      <a16:colId xmlns:a16="http://schemas.microsoft.com/office/drawing/2014/main" val="1975884164"/>
                    </a:ext>
                  </a:extLst>
                </a:gridCol>
              </a:tblGrid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Size (bits)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Range /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Default Value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17698"/>
                  </a:ext>
                </a:extLst>
              </a:tr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-128 to 127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190753"/>
                  </a:ext>
                </a:extLst>
              </a:tr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-32,768 to 32,767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920555"/>
                  </a:ext>
                </a:extLst>
              </a:tr>
              <a:tr h="56481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-2,147,483,648 to 2,147,483,647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399908"/>
                  </a:ext>
                </a:extLst>
              </a:tr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-9,223,372,036,854,775,808 to 9,223,372,036,854,775,807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189155"/>
                  </a:ext>
                </a:extLst>
              </a:tr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approx. 1.4e-45 to 3.4e+38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0.0f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912432"/>
                  </a:ext>
                </a:extLst>
              </a:tr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approx. 4.9e-324 to 1.8e+308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0.0d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764082"/>
                  </a:ext>
                </a:extLst>
              </a:tr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'\u0000'</a:t>
                      </a:r>
                      <a:r>
                        <a:rPr lang="pl-PL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to </a:t>
                      </a:r>
                      <a:r>
                        <a:rPr lang="pl-PL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'\uffff'</a:t>
                      </a:r>
                      <a:r>
                        <a:rPr lang="pl-PL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(0 to 65,535)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'\u0000'</a:t>
                      </a:r>
                      <a:r>
                        <a:rPr lang="pl-PL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045705"/>
                  </a:ext>
                </a:extLst>
              </a:tr>
              <a:tr h="45168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/>
                        <a:t>boolean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JVM-dependent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or </a:t>
                      </a: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8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660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D20B0-9682-8E94-F2F0-A7896959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26E065-92E8-3EAF-7946-8DA1D642854B}"/>
              </a:ext>
            </a:extLst>
          </p:cNvPr>
          <p:cNvSpPr txBox="1"/>
          <p:nvPr/>
        </p:nvSpPr>
        <p:spPr>
          <a:xfrm>
            <a:off x="2617582" y="367595"/>
            <a:ext cx="69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Reference Types Categories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39A70-A8D0-DB25-C6C8-468348FA8A81}"/>
              </a:ext>
            </a:extLst>
          </p:cNvPr>
          <p:cNvSpPr txBox="1"/>
          <p:nvPr/>
        </p:nvSpPr>
        <p:spPr>
          <a:xfrm>
            <a:off x="992246" y="1477248"/>
            <a:ext cx="10207503" cy="390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Class Types</a:t>
            </a:r>
            <a:r>
              <a:rPr lang="en-US" sz="2800" dirty="0"/>
              <a:t> </a:t>
            </a:r>
            <a:r>
              <a:rPr lang="en-US" sz="2400" dirty="0"/>
              <a:t>– instances of classes </a:t>
            </a:r>
            <a:endParaRPr lang="fa-IR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Interface Types</a:t>
            </a:r>
            <a:r>
              <a:rPr lang="en-US" sz="2800" dirty="0"/>
              <a:t> </a:t>
            </a:r>
            <a:r>
              <a:rPr lang="en-US" sz="2400" dirty="0"/>
              <a:t>– references to objects that implement an interface </a:t>
            </a:r>
            <a:endParaRPr lang="fa-IR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Array Types</a:t>
            </a:r>
            <a:r>
              <a:rPr lang="en-US" sz="2800" dirty="0"/>
              <a:t> </a:t>
            </a:r>
            <a:r>
              <a:rPr lang="en-US" sz="2400" dirty="0"/>
              <a:t>– even arrays of primitives are objects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Enum Types</a:t>
            </a:r>
            <a:r>
              <a:rPr lang="en-US" sz="2800" dirty="0"/>
              <a:t> </a:t>
            </a:r>
            <a:r>
              <a:rPr lang="en-US" sz="2400" dirty="0"/>
              <a:t>– a fixed set of named constants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Record Types</a:t>
            </a:r>
            <a:r>
              <a:rPr lang="en-US" sz="2800" dirty="0"/>
              <a:t> </a:t>
            </a:r>
            <a:r>
              <a:rPr lang="en-US" sz="2400" dirty="0"/>
              <a:t>(Java 14+) – immutable data carriers with minimal boilerplate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Annotation Types</a:t>
            </a:r>
            <a:r>
              <a:rPr lang="en-US" sz="2800" dirty="0"/>
              <a:t> </a:t>
            </a:r>
            <a:r>
              <a:rPr lang="en-US" sz="2400" dirty="0"/>
              <a:t>– used for metadata</a:t>
            </a:r>
          </a:p>
        </p:txBody>
      </p:sp>
    </p:spTree>
    <p:extLst>
      <p:ext uri="{BB962C8B-B14F-4D97-AF65-F5344CB8AC3E}">
        <p14:creationId xmlns:p14="http://schemas.microsoft.com/office/powerpoint/2010/main" val="3827615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DC431-1348-DD2F-1AEC-F31E5FC95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21DF26-FD89-61BB-6C1F-F68114447573}"/>
              </a:ext>
            </a:extLst>
          </p:cNvPr>
          <p:cNvSpPr txBox="1"/>
          <p:nvPr/>
        </p:nvSpPr>
        <p:spPr>
          <a:xfrm>
            <a:off x="2617582" y="367595"/>
            <a:ext cx="69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Wrapper Classes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4B14B-7546-E582-1A1D-BA23E42AFDBB}"/>
              </a:ext>
            </a:extLst>
          </p:cNvPr>
          <p:cNvSpPr txBox="1"/>
          <p:nvPr/>
        </p:nvSpPr>
        <p:spPr>
          <a:xfrm>
            <a:off x="1224620" y="896988"/>
            <a:ext cx="8801784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Each primitive type has a corresponding wrapper class: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8EEA4C-AD00-BE0C-E208-BA69FF4535C2}"/>
              </a:ext>
            </a:extLst>
          </p:cNvPr>
          <p:cNvSpPr txBox="1"/>
          <p:nvPr/>
        </p:nvSpPr>
        <p:spPr>
          <a:xfrm>
            <a:off x="1479153" y="1568839"/>
            <a:ext cx="3363274" cy="2071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byte → Byte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short → Short,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int → Integer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long → Long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AC32F-2798-1304-717A-D43DDA14EACA}"/>
              </a:ext>
            </a:extLst>
          </p:cNvPr>
          <p:cNvSpPr txBox="1"/>
          <p:nvPr/>
        </p:nvSpPr>
        <p:spPr>
          <a:xfrm>
            <a:off x="5592025" y="1568839"/>
            <a:ext cx="3363274" cy="2071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float → Float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double → Double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char → Character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 err="1"/>
              <a:t>boolean</a:t>
            </a:r>
            <a:r>
              <a:rPr lang="en-US" sz="2200" b="1" dirty="0"/>
              <a:t> → Boolean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BB0962-8CA6-A7A2-B0E3-8EFE3077ED5C}"/>
              </a:ext>
            </a:extLst>
          </p:cNvPr>
          <p:cNvSpPr txBox="1"/>
          <p:nvPr/>
        </p:nvSpPr>
        <p:spPr>
          <a:xfrm>
            <a:off x="1224620" y="3988723"/>
            <a:ext cx="43674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Why use them?</a:t>
            </a: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Required in generics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Allow null as a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Provide utility methods</a:t>
            </a:r>
          </a:p>
        </p:txBody>
      </p:sp>
    </p:spTree>
    <p:extLst>
      <p:ext uri="{BB962C8B-B14F-4D97-AF65-F5344CB8AC3E}">
        <p14:creationId xmlns:p14="http://schemas.microsoft.com/office/powerpoint/2010/main" val="31422065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386</TotalTime>
  <Words>403</Words>
  <Application>Microsoft Office PowerPoint</Application>
  <PresentationFormat>Widescreen</PresentationFormat>
  <Paragraphs>100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Retrospect</vt:lpstr>
      <vt:lpstr>Java Data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Ramin Iranmanesh</dc:creator>
  <cp:lastModifiedBy>Ramin Iranmanesh</cp:lastModifiedBy>
  <cp:revision>53</cp:revision>
  <dcterms:created xsi:type="dcterms:W3CDTF">2026-05-02T17:54:48Z</dcterms:created>
  <dcterms:modified xsi:type="dcterms:W3CDTF">2026-05-05T09:18:53Z</dcterms:modified>
</cp:coreProperties>
</file>